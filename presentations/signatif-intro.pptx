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uillo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280160"/>
            <a:ext cx="51206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A CALCONNECT WORK ITEM · ISO/TC 154 · WORKING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8229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600" b="1">
                <a:solidFill>
                  <a:srgbClr val="17222E"/>
                </a:solidFill>
                <a:latin typeface="Archivo"/>
              </a:rPr>
              <a:t>SIGNATIF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8046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17222E"/>
                </a:solidFill>
                <a:latin typeface="Archivo"/>
              </a:rPr>
              <a:t>Trust infrastructure framework for verifiable artifacts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3703320"/>
            <a:ext cx="2011680" cy="31750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7863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4E5D6D"/>
                </a:solidFill>
                <a:latin typeface="Consolas"/>
              </a:rPr>
              <a:t>Sealed · Interoperable · Graduated · Non-repudiable · Anchored ·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4E5D6D"/>
                </a:solidFill>
                <a:latin typeface="Consolas"/>
              </a:rPr>
              <a:t>Trust · Infrastructure ·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6858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4E5D6D"/>
                </a:solidFill>
                <a:latin typeface="Calibri"/>
              </a:rPr>
              <a:t>From Latin signare — to mark with a seal.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Trustworthiness is established by what is verifiably signed, not by who is trusted.</a:t>
            </a:r>
          </a:p>
        </p:txBody>
      </p:sp>
      <p:pic>
        <p:nvPicPr>
          <p:cNvPr id="10" name="Picture 9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562356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71600" y="574243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www.signatif.org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In regulated industries, a certificate is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106070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50" b="0">
                <a:solidFill>
                  <a:srgbClr val="4E5D6D"/>
                </a:solidFill>
                <a:latin typeface="Calibri"/>
              </a:rPr>
              <a:t>It carries legal, economic, and safety consequences — and it must remain verifiable across organizational boundaries, jurisdictional boundaries, and decades of time, by verifiers who never met its issuer.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LEGAL METROLOGY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Calibration and type-approval certificates, verifiable at inspection fifteen years later, offline.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673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PHARMACEUTICALS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673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Batch release under track-and-trace mandates — manufacturer, operator, conditions, and time each attested.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FOOD SAFETY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Inspection and provenance records crossing many authorities between farm and shelf.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7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DEFENSE PROCUREMENT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537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Component provenance with authorization that can be withdrawn — provably, retroactively.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16636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EAF1F6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58384"/>
            <a:ext cx="9966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1B4869"/>
                </a:solidFill>
                <a:latin typeface="Calibri"/>
              </a:rPr>
              <a:t>“The key was valid” is not evidence — the operator, the conditions, the time, and the place of production are the claims that must be verifiable.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EXISTING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Each incumbent solves one problem well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97510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TRADITIONAL PKI</a:t>
            </a:r>
          </a:p>
        </p:txBody>
      </p:sp>
      <p:sp>
        <p:nvSpPr>
          <p:cNvPr id="9" name="Rectangle 8"/>
          <p:cNvSpPr/>
          <p:nvPr/>
        </p:nvSpPr>
        <p:spPr>
          <a:xfrm>
            <a:off x="4041648" y="199339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97510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Binds keys to identities — not artifacts to production conditions. Binary path validation; revocation reaches the key, not the 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2608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07238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CODE-SIGNING TRANSPARENCY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41648" y="309067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307238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One ecosystem log per community; inclusion exists, but no dimensional attestations, no scope, no graduation.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2336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16966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BLOCKCHAIN ATTESTATION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41648" y="418795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416966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Membership replaces authorization: “was it logged on our chain”. No scope enforcement; append-only by design.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12064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26694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W3C VERIFIABLE CREDENTIALS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41648" y="528523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400" y="526694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The issuer signs the claims — but one proof, issuer-asserted trust, no convergence semantics, no mandatory transparency.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No existing standard makes artifact trust computable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836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28800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Multi-dimensional convergence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1828800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Authority, person, time, location, environment — independent co-signatures meeting on one record.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587752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77063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15768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Graduated 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15768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An objective, deterministic coverage report mapped to labels by published policies — not valid/invalid.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474720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65759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602735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Revocation that reaches artifacts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602735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Withdrawing an authorization provably invalidates every artifact bound to it, across all dimensions.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61688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544567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489703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Offline equality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489703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The same classification label online and at a border post — from the anchor bundle alone.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248655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5431535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76671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Cross-domain without bridges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5376671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Co-signatures from independent roots ride the artifact; the verifier’s own anchors decide.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The name is the architecture — eight normative properties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Sealed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Co-signatures over a canonical payload, one per trust dimension.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3864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8456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6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Interoperable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One pipeline and report format; scheme rules enter through registries.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Graduated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Coverage report, classification label, acceptance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5672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0264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18904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Non-repudiable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0264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Threshold quorum, ceremony records, transparency logs.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Anchored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Every path ends at a declared trust anchor — fully offline.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83864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7096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Trust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48456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Establishment, assessment, and withdrawal of confidence — a lifecycle.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Infrastructure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Shared anchors, logs, and registries beneath any application.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05672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70264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18904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Framework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0264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Requirements that conforming implementations and profiles share.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TRUST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A trust graph over signed artifacts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6E3DE"/>
          </a:solidFill>
          <a:ln w="12700">
            <a:solidFill>
              <a:srgbClr val="C74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C74A35"/>
                </a:solidFill>
                <a:latin typeface="Consolas"/>
              </a:rPr>
              <a:t>ROOT (3-OF-5)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threshold quorum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4016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0048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NMI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national 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7136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accredited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3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instrument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11311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INSTRUMENT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7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individual device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399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E3F0EA"/>
          </a:solidFill>
          <a:ln w="12700">
            <a:solidFill>
              <a:srgbClr val="176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604A"/>
                </a:solidFill>
                <a:latin typeface="Consolas"/>
              </a:rPr>
              <a:t>MEASUREMENT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03535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the trusted artifact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063240"/>
            <a:ext cx="10515600" cy="914400"/>
          </a:xfrm>
          <a:prstGeom prst="roundRect">
            <a:avLst>
              <a:gd name="adj" fmla="val 5000"/>
            </a:avLst>
          </a:prstGeom>
          <a:solidFill>
            <a:srgbClr val="EAF1F6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3246120"/>
            <a:ext cx="9966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1B4869"/>
                </a:solidFill>
                <a:latin typeface="Calibri"/>
              </a:rPr>
              <a:t>At every delegation link the authorization scope narrows monotonically — widening any dimension is a hard verification failure, checkable from the signatures alone.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434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Threshold at every level — </a:t>
            </a:r>
            <a:r>
              <a:rPr sz="1250">
                <a:solidFill>
                  <a:srgbClr val="4E5D6D"/>
                </a:solidFill>
                <a:latin typeface="Calibri"/>
              </a:rPr>
              <a:t>a quorum of key holders exercises root, delegated, and federated authorities; no single point of cryptographic compromise.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Federated authorities — </a:t>
            </a:r>
            <a:r>
              <a:rPr sz="1250">
                <a:solidFill>
                  <a:srgbClr val="4E5D6D"/>
                </a:solidFill>
                <a:latin typeface="Calibri"/>
              </a:rPr>
              <a:t>threshold groups of independent organizations share one aggregate key; cross-organizational recognition is built in.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Machine-readable scope — </a:t>
            </a:r>
            <a:r>
              <a:rPr sz="1250">
                <a:solidFill>
                  <a:srgbClr val="4E5D6D"/>
                </a:solidFill>
                <a:latin typeface="Calibri"/>
              </a:rPr>
              <a:t>a signed field with executable conditions evaluated at verification time, not a policy document a human must read.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TRUSTED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Convergence, not single-signer authority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8848" y="3063240"/>
            <a:ext cx="32004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256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3246120"/>
            <a:ext cx="30540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7222E"/>
                </a:solidFill>
                <a:latin typeface="Consolas"/>
              </a:rPr>
              <a:t>CANONICAL PAYLOAD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675887"/>
            <a:ext cx="30540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26D79"/>
                </a:solidFill>
                <a:latin typeface="Consolas"/>
              </a:rPr>
              <a:t>deterministic byte serialization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196596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2057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35000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delegation chain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196596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057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35000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time authority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977639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19" y="4069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4361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certified operator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3977639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400" y="4069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LOCATION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361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attestation tree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512064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5212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ENVIRONMENT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5504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sensor co-signature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429000" y="2651760"/>
            <a:ext cx="1234440" cy="548640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7589520" y="2651760"/>
            <a:ext cx="1188720" cy="548640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429000" y="3749039"/>
            <a:ext cx="1097280" cy="365761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7680960" y="3749039"/>
            <a:ext cx="1097280" cy="365761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080760" y="4315968"/>
            <a:ext cx="27432" cy="804672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68680" y="1965960"/>
            <a:ext cx="182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E5D6D"/>
                </a:solidFill>
                <a:latin typeface="Calibr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806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Each dimension leaves its own co-signature on the same bytes — five independent attestations, one verifiable record. The coverage report states exactly which dimensions attest, and how independently.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Three separable decisions — no party silently bundles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01 · COVERAGE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Objective facts, computed deterministically. Hard checks short-circuit to rejected; soft checks accumulate.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6974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25618C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02 · CLASSIFICATION LABEL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grade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The scheme’s published policy maps report fields to labels — a pure function in the deployment manifest.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6974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25618C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03 · ACCEPTANCE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The verifier’s own risk policy turns the label into a decision for its context — explicit, auditable.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29768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48056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74A35"/>
                </a:solidFill>
                <a:latin typeface="Consolas"/>
              </a:rPr>
              <a:t>HARD CHECKS — FAILURE REJECTS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80060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Format validity · Signature validity · Chain integrity · Scope narrowing · Scope conditions · Revocation status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29768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48056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25618C"/>
                </a:solidFill>
                <a:latin typeface="Consolas"/>
              </a:rPr>
              <a:t>SOFT CHECKS — COVERAGE ACCUMULATES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80060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Transparency inclusion · Time anchor freshness · Cross-domain co-signatures · Multi-log attestation quorum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TRUST AS A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Granted, assessed, withdrawn — all first-class operations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993392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MANDATORY TRANSPARENCY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24528" y="2011680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965960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Every artifact and certificate is provably in an append-only Merkle log. M-of-K independent logs per artifact — no single operator controls the record; gossip and mirrors make split views detectable.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90088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154680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EXTERNAL TIME ANCHORING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4528" y="3172968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127248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Signing time is established by independent time sources and anchored tree heads — never the signer’s clock alone.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51376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15968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REVOCATION PROPAGATION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334256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288536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Withdrawing authority state invalidates every transitively bound artifact, across all dimensions and chains — hash-bound into verification.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12664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477256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CEREMONY RECORDS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5495544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5449824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Key generation, resharing, and rotation are recorded in signed, transparently-logged transcripts — auditable end to end.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HOW IT DIFFERS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Structural properties, not implementation maturity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783080"/>
          <a:ext cx="10515600" cy="4281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554480"/>
                <a:gridCol w="1600200"/>
                <a:gridCol w="1463040"/>
                <a:gridCol w="1463040"/>
                <a:gridCol w="2514600"/>
              </a:tblGrid>
              <a:tr h="4775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CAPABILITY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TRADITIONAL PKI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CODE-SIGN TRANSPARENCY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BLOCKCHAIN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W3C VC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5618C"/>
                          </a:solidFill>
                          <a:latin typeface="Consolas"/>
                        </a:rPr>
                        <a:t>SIGNATIF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Authorization boundary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Policy-defined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Ecosystem policy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None — membership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Issuer-asserted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Cryptographic, hard check at every link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Attestations per object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signature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+ log entry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ledger entry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proof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N co-signatures, one per dimension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Threshold protection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Root only, optional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Consensus, not signing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Mandatory at every authority level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Transparency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Optional (web only)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Single log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ledger itself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Not required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Inclusion required; M-of-K log quorum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Revocation reach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certificate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None — append-only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credential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All transitively bound artifacts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Offline verification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Awkward, freshness-bound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Not the model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 — needs the chain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Proofs only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First-class: same label except freshness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Cross-domain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Bridge CAs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ecosystem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chain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Per-issuer trust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Independent roots co-sign the artifact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Trust assessment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Binary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Binary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Logged or not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Valid or invalid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Objective report, graduated labels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POSITION IN THE STANDARDS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It composes — the incumbents are special cases or payloads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74519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029967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PKI is the degenerate configuration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2057400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011679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Single-signer end authorities, one dimension, binary acceptance — behaves exactly like traditional PKI. Migration is graduated, not a rewrite.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35808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191256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W3C VCs compose as payloads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3218688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3172968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A verifiable credential becomes the canonical payload; its single proof is replaced by dimensional co-signatures (informative Annex G).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97096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52544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EU Digital Product Passport rides the substrate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4379976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34256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QR delivery, decentralized registry intent, decade-plus lifetimes — a DPP deployment is a Signatif scheme (informative Annex H).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58383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513831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Built on established standards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5541264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5495544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ISO/IEC 14888 and 11770 concepts, RFC 6962/9162 transparency, ISO/IEC 19790 HSMs — referenced, not reinvented. Scheme registries keep national algorithm choices out of the international text.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WHY ISO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The regulatory pull is already written into law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EU DIGITAL PRODUCT PASSPORT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Ecodesign for Sustainable Products Regulation — verifiable product lifecycle data for regulated goods.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US DSCSA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Track-and-trace mandates for pharmaceutical serialization and saleable-return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OIML DIGITAL CERTIFICATES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Machine-verifiable metrological conformity for legal metrology.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A neutral infrastructure layer — </a:t>
            </a:r>
            <a:r>
              <a:rPr sz="1250">
                <a:solidFill>
                  <a:srgbClr val="4E5D6D"/>
                </a:solidFill>
                <a:latin typeface="Calibri"/>
              </a:rPr>
              <a:t>shared anchors, logs, and registries that no single vendor or jurisdiction controls; exactly what an International Standard is for.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Mutual recognition is standardized — </a:t>
            </a:r>
            <a:r>
              <a:rPr sz="1250">
                <a:solidFill>
                  <a:srgbClr val="4E5D6D"/>
                </a:solidFill>
                <a:latin typeface="Calibri"/>
              </a:rPr>
              <a:t>cross-recognition between regimes as signed credentials, so one artifact verifies across borders without bilateral policy negotiation.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Domain choices stay local — </a:t>
            </a:r>
            <a:r>
              <a:rPr sz="1250">
                <a:solidFill>
                  <a:srgbClr val="4E5D6D"/>
                </a:solidFill>
                <a:latin typeface="Calibri"/>
              </a:rPr>
              <a:t>schemes own registries, scope dimensions, and classification policies; the international text specifies the machinery, testably.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Timing — </a:t>
            </a:r>
            <a:r>
              <a:rPr sz="1250">
                <a:solidFill>
                  <a:srgbClr val="4E5D6D"/>
                </a:solidFill>
                <a:latin typeface="Calibri"/>
              </a:rPr>
              <a:t>the mandates above arrive through 2027–2030 delegated acts; the substrate they will need is being decided now.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BUILT TO BE TESTABLE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“Conforming” is a testable claim, not an adjective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REQUIREMENTS 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701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ABSTRACT CONFORMANCE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197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INFORMATIVE ANNEXES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246120"/>
            <a:ext cx="10515600" cy="127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2044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Every requirement is machine-addressable — </a:t>
            </a:r>
            <a:r>
              <a:rPr sz="1250">
                <a:solidFill>
                  <a:srgbClr val="4E5D6D"/>
                </a:solidFill>
                <a:latin typeface="Calibri"/>
              </a:rPr>
              <a:t>/req/&lt;class&gt;/&lt;fragment&gt; identifiers in structured YAML, rendered into the clauses and Annex A.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Every class has a conformance twin — </a:t>
            </a:r>
            <a:r>
              <a:rPr sz="1250">
                <a:solidFill>
                  <a:srgbClr val="4E5D6D"/>
                </a:solidFill>
                <a:latin typeface="Calibri"/>
              </a:rPr>
              <a:t>/conf classes with abstract tests targeting each requirement, ready for test-suite implementation.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The annexes do the practical work — </a:t>
            </a:r>
            <a:r>
              <a:rPr sz="1250">
                <a:solidFill>
                  <a:srgbClr val="4E5D6D"/>
                </a:solidFill>
                <a:latin typeface="Calibri"/>
              </a:rPr>
              <a:t>PKI comparison (B), scheme registries (C), a worked pharma profile (D), a reference technology instantiation (E), cross-technology interop (F), VC composition (G), DPP composition (H).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14</a:t>
            </a:r>
          </a:p>
        </p:txBody>
      </p:sp>
      <p:pic>
        <p:nvPicPr>
          <p:cNvPr id="5" name="Picture 4" descr="guillo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4206240"/>
            <a:ext cx="402336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STATUS AND INVITATION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8686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Join the work item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7680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E5D6D"/>
                </a:solidFill>
                <a:latin typeface="Calibri"/>
              </a:rPr>
              <a:t>SIGNATIF is a CalConnect work item, drafted as an ISO/TC 154 working draft — 21 normative clauses, 8 annexes, open source on GitHub.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88950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Read the working draft and comment — every clause is traceable to a requirements class.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9476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6908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PARTICIPATE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94106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Join CalConnect and shape the scheme registries, profiles, and conformance testing.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84632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1206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99262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Instantiate a scheme — food traceability, electronic components, DPP — on the reference stack.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18C"/>
                </a:solidFill>
                <a:latin typeface="Consolas"/>
              </a:rPr>
              <a:t>github.com/CalConnect/cc-signatif  ·  www.signatif.org</a:t>
            </a:r>
          </a:p>
        </p:txBody>
      </p:sp>
      <p:pic>
        <p:nvPicPr>
          <p:cNvPr id="19" name="Picture 18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73152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