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uillo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51206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A CALCONNECT WORK ITEM · ISO/TC 154 · WORKING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1">
                <a:solidFill>
                  <a:srgbClr val="17222E"/>
                </a:solidFill>
                <a:latin typeface="Archivo"/>
              </a:rPr>
              <a:t>SIGNATIF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17222E"/>
                </a:solidFill>
                <a:latin typeface="Archivo"/>
              </a:rPr>
              <a:t>Trust infrastructure framework for verifiable artifacts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3703320"/>
            <a:ext cx="2011680" cy="31750"/>
          </a:xfrm>
          <a:prstGeom prst="rect">
            <a:avLst/>
          </a:prstGeom>
          <a:solidFill>
            <a:srgbClr val="C74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4E5D6D"/>
                </a:solidFill>
                <a:latin typeface="Consolas"/>
              </a:rPr>
              <a:t>Sealed · Interoperable · Graduated · Non-repudiable · Anchored ·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4E5D6D"/>
                </a:solidFill>
                <a:latin typeface="Consolas"/>
              </a:rPr>
              <a:t>Trust · Infrastructure ·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4E5D6D"/>
                </a:solidFill>
                <a:latin typeface="Calibri"/>
              </a:rPr>
              <a:t>From Latin signare — to mark with a seal.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626D79"/>
                </a:solidFill>
                <a:latin typeface="Calibri"/>
              </a:rPr>
              <a:t>Trustworthiness is established by what is verifiably signed, not by who is trusted.</a:t>
            </a:r>
          </a:p>
        </p:txBody>
      </p:sp>
      <p:pic>
        <p:nvPicPr>
          <p:cNvPr id="10" name="Picture 9" descr="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562356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574243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www.signatif.org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In regulated industries, a certificate is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0">
                <a:solidFill>
                  <a:srgbClr val="4E5D6D"/>
                </a:solidFill>
                <a:latin typeface="Calibri"/>
              </a:rPr>
              <a:t>It carries legal, economic, and safety consequences — and it must remain verifiable across organizational boundaries, jurisdictional boundaries, and decades of time, by verifiers who never met its issuer.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2606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03580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5618C"/>
                </a:solidFill>
                <a:latin typeface="Consolas"/>
              </a:rPr>
              <a:t>LEGAL METROLOGY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3456432"/>
            <a:ext cx="457200" cy="22225"/>
          </a:xfrm>
          <a:prstGeom prst="rect">
            <a:avLst/>
          </a:prstGeom>
          <a:solidFill>
            <a:srgbClr val="C74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61188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Calibration and type-approval certificates, verifiable at inspection fifteen years later, offline.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834640"/>
            <a:ext cx="2606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303580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5618C"/>
                </a:solidFill>
                <a:latin typeface="Consolas"/>
              </a:rPr>
              <a:t>PHARMACEUTICALS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7328" y="3456432"/>
            <a:ext cx="457200" cy="22225"/>
          </a:xfrm>
          <a:prstGeom prst="rect">
            <a:avLst/>
          </a:prstGeom>
          <a:solidFill>
            <a:srgbClr val="C74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361188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Batch release under track-and-trace mandates — manufacturer, operator, conditions, and time each attested.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34640"/>
            <a:ext cx="2606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03580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5618C"/>
                </a:solidFill>
                <a:latin typeface="Consolas"/>
              </a:rPr>
              <a:t>FOOD SAFETY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0528" y="3456432"/>
            <a:ext cx="457200" cy="22225"/>
          </a:xfrm>
          <a:prstGeom prst="rect">
            <a:avLst/>
          </a:prstGeom>
          <a:solidFill>
            <a:srgbClr val="C74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61188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Inspection and provenance records crossing many authorities between farm and shelf.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834640"/>
            <a:ext cx="2606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303580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5618C"/>
                </a:solidFill>
                <a:latin typeface="Consolas"/>
              </a:rPr>
              <a:t>DEFENSE PROCUREMENT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53728" y="3456432"/>
            <a:ext cx="457200" cy="22225"/>
          </a:xfrm>
          <a:prstGeom prst="rect">
            <a:avLst/>
          </a:prstGeom>
          <a:solidFill>
            <a:srgbClr val="C74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361188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Component provenance with authorization that can be withdrawn — provably, retroactively.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6636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58384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1B4869"/>
                </a:solidFill>
                <a:latin typeface="Calibri"/>
              </a:rPr>
              <a:t>“The key was valid” is not evidence — the operator, the conditions, the time, and the place of production are the claims that must be verifiable.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THE EXISTING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Each incumbent solves one problem 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75104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5618C"/>
                </a:solidFill>
                <a:latin typeface="Consolas"/>
              </a:rPr>
              <a:t>TRADITIONAL PKI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1993392"/>
            <a:ext cx="14630" cy="3810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75104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4E5D6D"/>
                </a:solidFill>
                <a:latin typeface="Calibri"/>
              </a:rPr>
              <a:t>Binds keys to identities — not artifacts to production conditions. Binary path validation; revocation reaches the key, not the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2608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72384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5618C"/>
                </a:solidFill>
                <a:latin typeface="Consolas"/>
              </a:rPr>
              <a:t>CODE-SIGNING TRANSPARENCY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3090672"/>
            <a:ext cx="14630" cy="3810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072384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4E5D6D"/>
                </a:solidFill>
                <a:latin typeface="Calibri"/>
              </a:rPr>
              <a:t>One ecosystem log per community; inclusion exists, but no dimensional attestations, no scope, no graduation.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2336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169664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5618C"/>
                </a:solidFill>
                <a:latin typeface="Consolas"/>
              </a:rPr>
              <a:t>BLOCKCHAIN ATTESTATION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648" y="4187952"/>
            <a:ext cx="14630" cy="3810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4169664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4E5D6D"/>
                </a:solidFill>
                <a:latin typeface="Calibri"/>
              </a:rPr>
              <a:t>Membership replaces authorization: “was it logged on our chain”. No scope enforcement; append-only by design.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2064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266944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5618C"/>
                </a:solidFill>
                <a:latin typeface="Consolas"/>
              </a:rPr>
              <a:t>W3C VERIFIABLE CREDENTIALS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41648" y="5285232"/>
            <a:ext cx="14630" cy="3810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5266944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4E5D6D"/>
                </a:solidFill>
                <a:latin typeface="Calibri"/>
              </a:rPr>
              <a:t>The issuer signs the claims — but one proof, issuer-asserted trust, no convergence semantics, no mandatory transparency.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No existing standard makes artifact trust computable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83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26D79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7222E"/>
                </a:solidFill>
                <a:latin typeface="Calibri"/>
              </a:rPr>
              <a:t>Multi-dimensional convergence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828800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E5D6D"/>
                </a:solidFill>
                <a:latin typeface="Calibri"/>
              </a:rPr>
              <a:t>Authority, person, time, location, environment — independent co-signatures meeting on one record.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87752"/>
            <a:ext cx="10515600" cy="12700"/>
          </a:xfrm>
          <a:prstGeom prst="rect">
            <a:avLst/>
          </a:prstGeom>
          <a:solidFill>
            <a:srgbClr val="E7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770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26D79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7222E"/>
                </a:solidFill>
                <a:latin typeface="Calibri"/>
              </a:rPr>
              <a:t>Graduated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715768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E5D6D"/>
                </a:solidFill>
                <a:latin typeface="Calibri"/>
              </a:rPr>
              <a:t>An objective, deterministic coverage report mapped to labels by published policies — not valid/invalid.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74720"/>
            <a:ext cx="10515600" cy="12700"/>
          </a:xfrm>
          <a:prstGeom prst="rect">
            <a:avLst/>
          </a:prstGeom>
          <a:solidFill>
            <a:srgbClr val="E7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65759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26D79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02735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7222E"/>
                </a:solidFill>
                <a:latin typeface="Calibri"/>
              </a:rPr>
              <a:t>Revocation that reaches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602735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E5D6D"/>
                </a:solidFill>
                <a:latin typeface="Calibri"/>
              </a:rPr>
              <a:t>Withdrawing an authorization provably invalidates every artifact bound to it, across all dimensions.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61688"/>
            <a:ext cx="10515600" cy="12700"/>
          </a:xfrm>
          <a:prstGeom prst="rect">
            <a:avLst/>
          </a:prstGeom>
          <a:solidFill>
            <a:srgbClr val="E7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544567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26D79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89703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7222E"/>
                </a:solidFill>
                <a:latin typeface="Calibri"/>
              </a:rPr>
              <a:t>Offline equality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489703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E5D6D"/>
                </a:solidFill>
                <a:latin typeface="Calibri"/>
              </a:rPr>
              <a:t>The same classification label online and at a border post — from the anchor bundle alone.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248655"/>
            <a:ext cx="10515600" cy="12700"/>
          </a:xfrm>
          <a:prstGeom prst="rect">
            <a:avLst/>
          </a:prstGeom>
          <a:solidFill>
            <a:srgbClr val="E7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543153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26D79"/>
                </a:solidFill>
                <a:latin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76671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7222E"/>
                </a:solidFill>
                <a:latin typeface="Calibri"/>
              </a:rPr>
              <a:t>Cross-domain without bridges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5376671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E5D6D"/>
                </a:solidFill>
                <a:latin typeface="Calibri"/>
              </a:rPr>
              <a:t>Co-signatures from independent roots ride the artifact; the verifier’s own anchors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The name is the architecture — eight normative properties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116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18C"/>
                </a:solidFill>
                <a:latin typeface="Archivo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06654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7222E"/>
                </a:solidFill>
                <a:latin typeface="Calibri"/>
              </a:rPr>
              <a:t>Sealed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95728"/>
            <a:ext cx="2276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E5D6D"/>
                </a:solidFill>
                <a:latin typeface="Calibri"/>
              </a:rPr>
              <a:t>Co-signatures over a canonical payload, one per trust dimension.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4" y="1920240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20116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18C"/>
                </a:solidFill>
                <a:latin typeface="Archivo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6" y="206654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7222E"/>
                </a:solidFill>
                <a:latin typeface="Calibri"/>
              </a:rPr>
              <a:t>Interoperable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395728"/>
            <a:ext cx="2276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E5D6D"/>
                </a:solidFill>
                <a:latin typeface="Calibri"/>
              </a:rPr>
              <a:t>One pipeline and report format; scheme rules enter through registries.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920240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18C"/>
                </a:solidFill>
                <a:latin typeface="Archivo"/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6654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7222E"/>
                </a:solidFill>
                <a:latin typeface="Calibri"/>
              </a:rPr>
              <a:t>Graduated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95728"/>
            <a:ext cx="2276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E5D6D"/>
                </a:solidFill>
                <a:latin typeface="Calibri"/>
              </a:rPr>
              <a:t>Coverage report, classification label, acceptance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2" y="1920240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0264" y="20116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18C"/>
                </a:solidFill>
                <a:latin typeface="Archivo"/>
              </a:rP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4" y="206654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7222E"/>
                </a:solidFill>
                <a:latin typeface="Calibri"/>
              </a:rPr>
              <a:t>Non-repudiable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2395728"/>
            <a:ext cx="2276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E5D6D"/>
                </a:solidFill>
                <a:latin typeface="Calibri"/>
              </a:rPr>
              <a:t>Threshold quorum, ceremony records, transparency logs.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072384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163824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18C"/>
                </a:solidFill>
                <a:latin typeface="Archivo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2186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7222E"/>
                </a:solidFill>
                <a:latin typeface="Calibri"/>
              </a:rPr>
              <a:t>Anchored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547872"/>
            <a:ext cx="2276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E5D6D"/>
                </a:solidFill>
                <a:latin typeface="Calibri"/>
              </a:rPr>
              <a:t>Every path ends at a declared trust anchor — fully offline.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83864" y="3072384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163824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18C"/>
                </a:solidFill>
                <a:latin typeface="Archivo"/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7096" y="32186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7222E"/>
                </a:solidFill>
                <a:latin typeface="Calibri"/>
              </a:rPr>
              <a:t>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8456" y="3547872"/>
            <a:ext cx="2276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E5D6D"/>
                </a:solidFill>
                <a:latin typeface="Calibri"/>
              </a:rPr>
              <a:t>Establishment, assessment, and withdrawal of confidence — a lifecycle.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072384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163824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18C"/>
                </a:solidFill>
                <a:latin typeface="Archivo"/>
              </a:rPr>
              <a:t>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186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7222E"/>
                </a:solidFill>
                <a:latin typeface="Calibri"/>
              </a:rPr>
              <a:t>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547872"/>
            <a:ext cx="2276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E5D6D"/>
                </a:solidFill>
                <a:latin typeface="Calibri"/>
              </a:rPr>
              <a:t>Shared anchors, logs, and registries beneath any application.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05672" y="3072384"/>
            <a:ext cx="2606040" cy="1042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0264" y="3163824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18C"/>
                </a:solidFill>
                <a:latin typeface="Archivo"/>
              </a:rP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18904" y="32186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7222E"/>
                </a:solidFill>
                <a:latin typeface="Calibri"/>
              </a:rPr>
              <a:t>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0264" y="3547872"/>
            <a:ext cx="2276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E5D6D"/>
                </a:solidFill>
                <a:latin typeface="Calibri"/>
              </a:rPr>
              <a:t>Requirements that conforming implementations and profiles share.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THE TRUST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A trust graph over signed artifacts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6E3DE"/>
          </a:solidFill>
          <a:ln w="12700">
            <a:solidFill>
              <a:srgbClr val="C74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74A35"/>
                </a:solidFill>
                <a:latin typeface="Consolas"/>
              </a:rPr>
              <a:t>ROOT (3-OF-5)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threshold quorum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47672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26D79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659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17222E"/>
                </a:solidFill>
                <a:latin typeface="Consolas"/>
              </a:rPr>
              <a:t>NMI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5146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national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947672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26D79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9659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17222E"/>
                </a:solidFill>
                <a:latin typeface="Consolas"/>
              </a:rPr>
              <a:t>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5146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accredited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1947672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26D79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3" y="19659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17222E"/>
                </a:solidFill>
                <a:latin typeface="Consolas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5146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instrument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47672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26D79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1" y="19659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17222E"/>
                </a:solidFill>
                <a:latin typeface="Consolas"/>
              </a:rPr>
              <a:t>INSTRUMENT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7" y="25146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individual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7" y="1947672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26D79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399" y="19659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E3F0EA"/>
          </a:solidFill>
          <a:ln w="12700">
            <a:solidFill>
              <a:srgbClr val="176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17604A"/>
                </a:solidFill>
                <a:latin typeface="Consolas"/>
              </a:rPr>
              <a:t>MEASUREMENT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5" y="25146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the trusted artifact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06324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246120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1B4869"/>
                </a:solidFill>
                <a:latin typeface="Calibri"/>
              </a:rPr>
              <a:t>At every delegation link the authorization scope narrows monotonically — widening any dimension is a hard verification failure, checkable from the signatures alone.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434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Threshold at every level — </a:t>
            </a:r>
            <a:r>
              <a:rPr sz="1250">
                <a:solidFill>
                  <a:srgbClr val="4E5D6D"/>
                </a:solidFill>
                <a:latin typeface="Calibri"/>
              </a:rPr>
              <a:t>a quorum of key holders exercises root, delegated, and federated authorities; no single point of cryptographic compromise.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Federated authorities — </a:t>
            </a:r>
            <a:r>
              <a:rPr sz="1250">
                <a:solidFill>
                  <a:srgbClr val="4E5D6D"/>
                </a:solidFill>
                <a:latin typeface="Calibri"/>
              </a:rPr>
              <a:t>threshold groups of independent organizations share one aggregate key; cross-organizational recognition is built in.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Machine-readable scope — </a:t>
            </a:r>
            <a:r>
              <a:rPr sz="1250">
                <a:solidFill>
                  <a:srgbClr val="4E5D6D"/>
                </a:solidFill>
                <a:latin typeface="Calibri"/>
              </a:rPr>
              <a:t>a signed field with executable conditions evaluated at verification time, not a policy document a human must read.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THE TRUSTED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Convergence, not single-signer authority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3063240"/>
            <a:ext cx="3200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246120"/>
            <a:ext cx="30540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7222E"/>
                </a:solidFill>
                <a:latin typeface="Consolas"/>
              </a:rPr>
              <a:t>CANONICAL 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675887"/>
            <a:ext cx="30540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26D79"/>
                </a:solidFill>
                <a:latin typeface="Consolas"/>
              </a:rPr>
              <a:t>deterministic byte serialization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965960"/>
            <a:ext cx="23774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0574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18C"/>
                </a:solidFill>
                <a:latin typeface="Consolas"/>
              </a:rPr>
              <a:t>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35000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delegation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965960"/>
            <a:ext cx="23774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0574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18C"/>
                </a:solidFill>
                <a:latin typeface="Consolas"/>
              </a:rP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35000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time authority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977639"/>
            <a:ext cx="23774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06907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18C"/>
                </a:solidFill>
                <a:latin typeface="Consolas"/>
              </a:rPr>
              <a:t>PERSON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36168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certified operator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3977639"/>
            <a:ext cx="23774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406907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18C"/>
                </a:solidFill>
                <a:latin typeface="Consolas"/>
              </a:rPr>
              <a:t>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36168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attestation tree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5120640"/>
            <a:ext cx="23774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521207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18C"/>
                </a:solidFill>
                <a:latin typeface="Consolas"/>
              </a:rPr>
              <a:t>ENVIRONMENT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50468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>
                <a:solidFill>
                  <a:srgbClr val="626D79"/>
                </a:solidFill>
                <a:latin typeface="Consolas"/>
              </a:rPr>
              <a:t>sensor co-signature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29000" y="2651760"/>
            <a:ext cx="1234440" cy="548640"/>
          </a:xfrm>
          <a:prstGeom prst="line">
            <a:avLst/>
          </a:prstGeom>
          <a:ln w="15875">
            <a:solidFill>
              <a:srgbClr val="2561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589520" y="2651760"/>
            <a:ext cx="1188720" cy="548640"/>
          </a:xfrm>
          <a:prstGeom prst="line">
            <a:avLst/>
          </a:prstGeom>
          <a:ln w="15875">
            <a:solidFill>
              <a:srgbClr val="2561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29000" y="3749039"/>
            <a:ext cx="1097280" cy="365761"/>
          </a:xfrm>
          <a:prstGeom prst="line">
            <a:avLst/>
          </a:prstGeom>
          <a:ln w="15875">
            <a:solidFill>
              <a:srgbClr val="2561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7680960" y="3749039"/>
            <a:ext cx="1097280" cy="365761"/>
          </a:xfrm>
          <a:prstGeom prst="line">
            <a:avLst/>
          </a:prstGeom>
          <a:ln w="15875">
            <a:solidFill>
              <a:srgbClr val="2561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80760" y="4315968"/>
            <a:ext cx="27432" cy="804672"/>
          </a:xfrm>
          <a:prstGeom prst="line">
            <a:avLst/>
          </a:prstGeom>
          <a:ln w="15875">
            <a:solidFill>
              <a:srgbClr val="2561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8680" y="1965960"/>
            <a:ext cx="182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E5D6D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06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E5D6D"/>
                </a:solidFill>
                <a:latin typeface="Calibri"/>
              </a:rPr>
              <a:t>Each dimension leaves its own co-signature on the same bytes — five independent attestations, one verifiable record. The coverage report states exactly which dimensions attest, and how independently.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Three separable decisions — no party silently bundles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2461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626D79"/>
                </a:solidFill>
                <a:latin typeface="Consolas"/>
              </a:rPr>
              <a:t>01 · COVERAGE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222E"/>
                </a:solidFill>
                <a:latin typeface="Calibri"/>
              </a:rPr>
              <a:t>The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788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Objective facts, computed deterministically. Hard checks short-circuit to rejected; soft checks accumulate.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6974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5618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2461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626D79"/>
                </a:solidFill>
                <a:latin typeface="Consolas"/>
              </a:rPr>
              <a:t>02 · CLASSIFICATION 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222E"/>
                </a:solidFill>
                <a:latin typeface="Calibri"/>
              </a:rPr>
              <a:t>The 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34640"/>
            <a:ext cx="2788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The scheme’s published policy maps report fields to labels — a pure function in the deployment manifest.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6974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5618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874519"/>
            <a:ext cx="32461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057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626D79"/>
                </a:solidFill>
                <a:latin typeface="Consolas"/>
              </a:rPr>
              <a:t>03 · ACCEPTANCE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222E"/>
                </a:solidFill>
                <a:latin typeface="Calibri"/>
              </a:rPr>
              <a:t>The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834640"/>
            <a:ext cx="2788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The verifier’s own risk policy turns the label into a decision for its context — explicit, auditable.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97680"/>
            <a:ext cx="51206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48056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74A35"/>
                </a:solidFill>
                <a:latin typeface="Consolas"/>
              </a:rPr>
              <a:t>HARD CHECKS — FAILURE REJECTS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0060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Format validity · Signature validity · Chain integrity · Scope narrowing · Scope conditions · Revocation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97680"/>
            <a:ext cx="51206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48056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5618C"/>
                </a:solidFill>
                <a:latin typeface="Consolas"/>
              </a:rPr>
              <a:t>SOFT CHECKS — COVERAGE ACCUMULATES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80060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Transparency inclusion · Time anchor freshness · Cross-domain co-signatures · Multi-log attestation quorum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TRUST AS A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Granted, assessed, withdrawn — all first-class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93392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5618C"/>
                </a:solidFill>
                <a:latin typeface="Consolas"/>
              </a:rPr>
              <a:t>MANDATORY TRANSPARENCY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2011680"/>
            <a:ext cx="12801" cy="4064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Every artifact and certificate is provably in an append-only Merkle log. M-of-K independent logs per artifact — no single operator controls the record; gossip and mirrors make split views detectable.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90088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154680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5618C"/>
                </a:solidFill>
                <a:latin typeface="Consolas"/>
              </a:rPr>
              <a:t>EXTERNAL TIME ANCHORING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3172968"/>
            <a:ext cx="12801" cy="4064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127248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Signing time is established by independent time sources and anchored tree heads — never the signer’s clock alone.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51376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1596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5618C"/>
                </a:solidFill>
                <a:latin typeface="Consolas"/>
              </a:rPr>
              <a:t>REVOCATION PROPAGATION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4334256"/>
            <a:ext cx="12801" cy="4064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288536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Withdrawing authority state invalidates every transitively bound artifact, across all dimensions and chains — hash-bound into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12664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477256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5618C"/>
                </a:solidFill>
                <a:latin typeface="Consolas"/>
              </a:rPr>
              <a:t>CEREMONY 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5495544"/>
            <a:ext cx="12801" cy="4064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5449824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Key generation, resharing, and rotation are recorded in signed, transparently-logged transcripts — auditable end to 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HOW IT DIFFERS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Structural properties, not implementation maturity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10515600" cy="428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54480"/>
                <a:gridCol w="1600200"/>
                <a:gridCol w="1463040"/>
                <a:gridCol w="1463040"/>
                <a:gridCol w="2514600"/>
              </a:tblGrid>
              <a:tr h="4775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26D79"/>
                          </a:solidFill>
                          <a:latin typeface="Consolas"/>
                        </a:rPr>
                        <a:t>CAPABILITY</a:t>
                      </a:r>
                    </a:p>
                  </a:txBody>
                  <a:tcPr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26D79"/>
                          </a:solidFill>
                          <a:latin typeface="Consolas"/>
                        </a:rPr>
                        <a:t>TRADITIONAL PKI</a:t>
                      </a:r>
                    </a:p>
                  </a:txBody>
                  <a:tcPr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26D79"/>
                          </a:solidFill>
                          <a:latin typeface="Consolas"/>
                        </a:rPr>
                        <a:t>CODE-SIGN TRANSPARENCY</a:t>
                      </a:r>
                    </a:p>
                  </a:txBody>
                  <a:tcPr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26D79"/>
                          </a:solidFill>
                          <a:latin typeface="Consolas"/>
                        </a:rPr>
                        <a:t>BLOCKCHAIN</a:t>
                      </a:r>
                    </a:p>
                  </a:txBody>
                  <a:tcPr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26D79"/>
                          </a:solidFill>
                          <a:latin typeface="Consolas"/>
                        </a:rPr>
                        <a:t>W3C VC</a:t>
                      </a:r>
                    </a:p>
                  </a:txBody>
                  <a:tcPr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5618C"/>
                          </a:solidFill>
                          <a:latin typeface="Consolas"/>
                        </a:rPr>
                        <a:t>SIGNATIF</a:t>
                      </a:r>
                    </a:p>
                  </a:txBody>
                  <a:tcPr marL="91440" marR="54864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7222E"/>
                          </a:solidFill>
                          <a:latin typeface="Calibri"/>
                        </a:rPr>
                        <a:t>Authorization boundary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Policy-defined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Ecosystem policy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None — membership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Issuer-asserted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7222E"/>
                          </a:solidFill>
                          <a:latin typeface="Calibri"/>
                        </a:rPr>
                        <a:t>Cryptographic, hard check at every link</a:t>
                      </a:r>
                    </a:p>
                  </a:txBody>
                  <a:tcPr marL="91440" marR="54864" marT="27432" marB="27432" anchor="ctr">
                    <a:solidFill>
                      <a:srgbClr val="EA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7222E"/>
                          </a:solidFill>
                          <a:latin typeface="Calibri"/>
                        </a:rPr>
                        <a:t>Attestations per object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One signature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One + log entry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One ledger entry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One proof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7222E"/>
                          </a:solidFill>
                          <a:latin typeface="Calibri"/>
                        </a:rPr>
                        <a:t>N co-signatures, one per dimension</a:t>
                      </a:r>
                    </a:p>
                  </a:txBody>
                  <a:tcPr marL="91440" marR="54864" marT="27432" marB="27432" anchor="ctr">
                    <a:solidFill>
                      <a:srgbClr val="EA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7222E"/>
                          </a:solidFill>
                          <a:latin typeface="Calibri"/>
                        </a:rPr>
                        <a:t>Threshold protection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Root only, optional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Consensus, not signing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7222E"/>
                          </a:solidFill>
                          <a:latin typeface="Calibri"/>
                        </a:rPr>
                        <a:t>Mandatory at every authority level</a:t>
                      </a:r>
                    </a:p>
                  </a:txBody>
                  <a:tcPr marL="91440" marR="54864" marT="27432" marB="27432" anchor="ctr">
                    <a:solidFill>
                      <a:srgbClr val="EA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7222E"/>
                          </a:solidFill>
                          <a:latin typeface="Calibri"/>
                        </a:rPr>
                        <a:t>Transparency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Optional (web only)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Single log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The ledger itself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Not required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7222E"/>
                          </a:solidFill>
                          <a:latin typeface="Calibri"/>
                        </a:rPr>
                        <a:t>Inclusion required; M-of-K log quorum</a:t>
                      </a:r>
                    </a:p>
                  </a:txBody>
                  <a:tcPr marL="91440" marR="54864" marT="27432" marB="27432" anchor="ctr">
                    <a:solidFill>
                      <a:srgbClr val="EA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7222E"/>
                          </a:solidFill>
                          <a:latin typeface="Calibri"/>
                        </a:rPr>
                        <a:t>Revocation reach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The certificate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None — append-only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The credential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7222E"/>
                          </a:solidFill>
                          <a:latin typeface="Calibri"/>
                        </a:rPr>
                        <a:t>All transitively bound artifacts</a:t>
                      </a:r>
                    </a:p>
                  </a:txBody>
                  <a:tcPr marL="91440" marR="54864" marT="27432" marB="27432" anchor="ctr">
                    <a:solidFill>
                      <a:srgbClr val="EA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7222E"/>
                          </a:solidFill>
                          <a:latin typeface="Calibri"/>
                        </a:rPr>
                        <a:t>Offline verification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Awkward, freshness-bound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Not the model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No — needs the chain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Proofs only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7222E"/>
                          </a:solidFill>
                          <a:latin typeface="Calibri"/>
                        </a:rPr>
                        <a:t>First-class: same label except freshness</a:t>
                      </a:r>
                    </a:p>
                  </a:txBody>
                  <a:tcPr marL="91440" marR="54864" marT="27432" marB="27432" anchor="ctr">
                    <a:solidFill>
                      <a:srgbClr val="EA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7222E"/>
                          </a:solidFill>
                          <a:latin typeface="Calibri"/>
                        </a:rPr>
                        <a:t>Cross-domain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Bridge CAs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One ecosystem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One chain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Per-issuer trust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7222E"/>
                          </a:solidFill>
                          <a:latin typeface="Calibri"/>
                        </a:rPr>
                        <a:t>Independent roots co-sign the artifact</a:t>
                      </a:r>
                    </a:p>
                  </a:txBody>
                  <a:tcPr marL="91440" marR="54864" marT="27432" marB="27432" anchor="ctr">
                    <a:solidFill>
                      <a:srgbClr val="EA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7222E"/>
                          </a:solidFill>
                          <a:latin typeface="Calibri"/>
                        </a:rPr>
                        <a:t>Trust assessment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Logged or not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E5D6D"/>
                          </a:solidFill>
                          <a:latin typeface="Calibri"/>
                        </a:rPr>
                        <a:t>Valid or invalid</a:t>
                      </a:r>
                    </a:p>
                  </a:txBody>
                  <a:tcPr marL="91440" marR="54864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7222E"/>
                          </a:solidFill>
                          <a:latin typeface="Calibri"/>
                        </a:rPr>
                        <a:t>Objective report, graduated labels</a:t>
                      </a:r>
                    </a:p>
                  </a:txBody>
                  <a:tcPr marL="91440" marR="54864" marT="27432" marB="27432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POSITION IN THE STANDARDS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It composes — the incumbents are special cases or payloads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29967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7222E"/>
                </a:solidFill>
                <a:latin typeface="Calibri"/>
              </a:rPr>
              <a:t>PKI is the degenerate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2057400"/>
            <a:ext cx="12801" cy="4064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011679"/>
            <a:ext cx="5989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Single-signer end authorities, one dimension, binary acceptance — behaves exactly like traditional PKI. Migration is graduated, not a rewrite.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35808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191256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7222E"/>
                </a:solidFill>
                <a:latin typeface="Calibri"/>
              </a:rPr>
              <a:t>W3C VCs compose as payloads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3218688"/>
            <a:ext cx="12801" cy="4064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172968"/>
            <a:ext cx="5989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A verifiable credential becomes the canonical payload; its single proof is replaced by dimensional co-signatures (informative Annex 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97096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52544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7222E"/>
                </a:solidFill>
                <a:latin typeface="Calibri"/>
              </a:rPr>
              <a:t>EU Digital Product Passport rides the substrate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4379976"/>
            <a:ext cx="12801" cy="4064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334256"/>
            <a:ext cx="5989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QR delivery, decentralized registry intent, decade-plus lifetimes — a DPP deployment is a Signatif scheme (informative Annex H).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58383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513831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7222E"/>
                </a:solidFill>
                <a:latin typeface="Calibri"/>
              </a:rPr>
              <a:t>Built on established standards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5541264"/>
            <a:ext cx="12801" cy="4064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5495544"/>
            <a:ext cx="5989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ISO/IEC 14888 and 11770 concepts, RFC 6962/9162 transparency, ISO/IEC 19790 HSMs — referenced, not reinvented. Scheme registries keep national algorithm choices out of the international 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WHY ISO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The regulatory pull is already written into law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933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5618C"/>
                </a:solidFill>
                <a:latin typeface="Consolas"/>
              </a:rPr>
              <a:t>EU DIGITAL PRODUCT PASSPORT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Ecodesign for Sustainable Products Regulation — verifiable product lifecycle data for regulated goods.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9933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5618C"/>
                </a:solidFill>
                <a:latin typeface="Consolas"/>
              </a:rPr>
              <a:t>US DSCSA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304288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Track-and-trace mandates for pharmaceutical serialization and saleable-return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9933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5618C"/>
                </a:solidFill>
                <a:latin typeface="Consolas"/>
              </a:rPr>
              <a:t>OIML DIGITAL CERTIFICATES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304288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E5D6D"/>
                </a:solidFill>
                <a:latin typeface="Calibri"/>
              </a:rPr>
              <a:t>Machine-verifiable metrological conformity for legal metrology.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A neutral infrastructure layer — </a:t>
            </a:r>
            <a:r>
              <a:rPr sz="1250">
                <a:solidFill>
                  <a:srgbClr val="4E5D6D"/>
                </a:solidFill>
                <a:latin typeface="Calibri"/>
              </a:rPr>
              <a:t>shared anchors, logs, and registries that no single vendor or jurisdiction controls; exactly what an International Standard is for.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Mutual recognition is standardized — </a:t>
            </a:r>
            <a:r>
              <a:rPr sz="1250">
                <a:solidFill>
                  <a:srgbClr val="4E5D6D"/>
                </a:solidFill>
                <a:latin typeface="Calibri"/>
              </a:rPr>
              <a:t>cross-recognition between regimes as signed credentials, so one artifact verifies across borders without bilateral policy negotiation.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Domain choices stay local — </a:t>
            </a:r>
            <a:r>
              <a:rPr sz="1250">
                <a:solidFill>
                  <a:srgbClr val="4E5D6D"/>
                </a:solidFill>
                <a:latin typeface="Calibri"/>
              </a:rPr>
              <a:t>schemes own registries, scope dimensions, and classification policies; the international text specifies the machinery, testably.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Timing — </a:t>
            </a:r>
            <a:r>
              <a:rPr sz="1250">
                <a:solidFill>
                  <a:srgbClr val="4E5D6D"/>
                </a:solidFill>
                <a:latin typeface="Calibri"/>
              </a:rPr>
              <a:t>the mandates above arrive through 2027–2030 delegated acts; the substrate they will need is being decided now.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BUILT TO BE TESTABLE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“Conforming” is a testable claim, not an adjective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5618C"/>
                </a:solidFill>
                <a:latin typeface="Archivo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626D79"/>
                </a:solidFill>
                <a:latin typeface="Consolas"/>
              </a:rPr>
              <a:t>REQUIREMENTS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5618C"/>
                </a:solidFill>
                <a:latin typeface="Archivo"/>
              </a:rP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6" y="26060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626D79"/>
                </a:solidFill>
                <a:latin typeface="Consolas"/>
              </a:rP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5618C"/>
                </a:solidFill>
                <a:latin typeface="Archivo"/>
              </a:rPr>
              <a:t>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6060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626D79"/>
                </a:solidFill>
                <a:latin typeface="Consolas"/>
              </a:rPr>
              <a:t>ABSTRACT CONFORMANCE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8288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5618C"/>
                </a:solidFill>
                <a:latin typeface="Archivo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26060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626D79"/>
                </a:solidFill>
                <a:latin typeface="Consolas"/>
              </a:rPr>
              <a:t>INFORMATIVE ANNEXES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10515600" cy="12700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Every requirement is machine-addressable — </a:t>
            </a:r>
            <a:r>
              <a:rPr sz="1250">
                <a:solidFill>
                  <a:srgbClr val="4E5D6D"/>
                </a:solidFill>
                <a:latin typeface="Calibri"/>
              </a:rPr>
              <a:t>/req/&lt;class&gt;/&lt;fragment&gt; identifiers in structured YAML, rendered into the clauses and Annex A.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Every class has a conformance twin — </a:t>
            </a:r>
            <a:r>
              <a:rPr sz="1250">
                <a:solidFill>
                  <a:srgbClr val="4E5D6D"/>
                </a:solidFill>
                <a:latin typeface="Calibri"/>
              </a:rPr>
              <a:t>/conf classes with abstract tests targeting each requirement, ready for test-suite implementation.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5618C"/>
                </a:solidFill>
                <a:latin typeface="Calibri"/>
              </a:rPr>
              <a:t>▪  </a:t>
            </a:r>
            <a:r>
              <a:rPr sz="1250" b="1">
                <a:solidFill>
                  <a:srgbClr val="17222E"/>
                </a:solidFill>
                <a:latin typeface="Calibri"/>
              </a:rPr>
              <a:t>The annexes do the practical work — </a:t>
            </a:r>
            <a:r>
              <a:rPr sz="1250">
                <a:solidFill>
                  <a:srgbClr val="4E5D6D"/>
                </a:solidFill>
                <a:latin typeface="Calibri"/>
              </a:rPr>
              <a:t>PKI comparison (B), scheme registries (C), a worked pharma profile (D), a reference technology instantiation (E), cross-technology interop (F), VC composition (G), DPP composition (H).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D79"/>
                </a:solidFill>
                <a:latin typeface="Consolas"/>
              </a:rPr>
              <a:t>CalConnect · SIGNATIF — Trust infrastructure for verifiable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26D79"/>
                </a:solidFill>
                <a:latin typeface="Consolas"/>
              </a:rPr>
              <a:t>14</a:t>
            </a:r>
          </a:p>
        </p:txBody>
      </p:sp>
      <p:pic>
        <p:nvPicPr>
          <p:cNvPr id="5" name="Picture 4" descr="guillo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42062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STATUS AND INVITATION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22960"/>
            <a:ext cx="8686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222E"/>
                </a:solidFill>
                <a:latin typeface="Archivo"/>
              </a:rPr>
              <a:t>Join the work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E5D6D"/>
                </a:solidFill>
                <a:latin typeface="Calibri"/>
              </a:rPr>
              <a:t>SIGNATIF is a CalConnect work item, drafted as an ISO/TC 154 working draft — 20 normative clauses, 8 annexes, open source on GitHub.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749807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889504"/>
            <a:ext cx="5257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E5D6D"/>
                </a:solidFill>
                <a:latin typeface="Calibri"/>
              </a:rPr>
              <a:t>Read the working draft and comment — every clause is traceable to a requirements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749807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PARTICIPATE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941064"/>
            <a:ext cx="5257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E5D6D"/>
                </a:solidFill>
                <a:latin typeface="Calibri"/>
              </a:rPr>
              <a:t>Join CalConnect and shape the scheme registries, profiles, and conformance testing.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46320"/>
            <a:ext cx="749807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2064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18C"/>
                </a:solidFill>
                <a:latin typeface="Consolas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992624"/>
            <a:ext cx="5257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E5D6D"/>
                </a:solidFill>
                <a:latin typeface="Calibri"/>
              </a:rPr>
              <a:t>Instantiate a scheme — food traceability, electronic components, DPP — on the reference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18C"/>
                </a:solidFill>
                <a:latin typeface="Consolas"/>
              </a:rPr>
              <a:t>github.com/CalConnect/cc-signatif  ·  www.signatif.org</a:t>
            </a:r>
          </a:p>
        </p:txBody>
      </p:sp>
      <p:pic>
        <p:nvPicPr>
          <p:cNvPr id="19" name="Picture 18" descr="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